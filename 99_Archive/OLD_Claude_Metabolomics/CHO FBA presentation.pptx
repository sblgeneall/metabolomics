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76" r:id="rId27"/>
    <p:sldId id="277" r:id="rId28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FFFFF"/>
                </a:solidFill>
                <a:latin typeface="Arial"/>
              </a:rPr>
              <a:t>Identifying Metabolic Signatures of</a:t>
            </a:r>
          </a:p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FFFFF"/>
                </a:solidFill>
                <a:latin typeface="Arial"/>
              </a:rPr>
              <a:t>High-Producing Antibody CHO Clones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611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6FD9C4"/>
                </a:solidFill>
                <a:latin typeface="Arial"/>
              </a:rPr>
              <a:t>Flux Balance Analysis of 9 antibody-producing clones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B8C9D0"/>
                </a:solidFill>
                <a:latin typeface="Arial"/>
              </a:rPr>
              <a:t>iCHO3K metabolic model  ·  Day 7→10 metabolic rates  ·  FBA / FVA / pFBA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B8C9D0"/>
                </a:solidFill>
                <a:latin typeface="Arial"/>
              </a:rPr>
              <a:t>Team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PART 1 ·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A43"/>
                </a:solidFill>
                <a:latin typeface="Arial"/>
              </a:rPr>
              <a:t>Same antibody — why do clones differ in yield?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48640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600" b="1">
                <a:solidFill>
                  <a:srgbClr val="028090"/>
                </a:solidFill>
                <a:latin typeface="Arial"/>
              </a:rPr>
              <a:t>●  </a:t>
            </a:r>
            <a:r>
              <a:rPr sz="1600">
                <a:solidFill>
                  <a:srgbClr val="1E2B32"/>
                </a:solidFill>
                <a:latin typeface="Arial"/>
              </a:rPr>
              <a:t>We have 9 CHO clones producing the same antibody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600" b="1">
                <a:solidFill>
                  <a:srgbClr val="028090"/>
                </a:solidFill>
                <a:latin typeface="Arial"/>
              </a:rPr>
              <a:t>●  </a:t>
            </a:r>
            <a:r>
              <a:rPr sz="1600">
                <a:solidFill>
                  <a:srgbClr val="1E2B32"/>
                </a:solidFill>
                <a:latin typeface="Arial"/>
              </a:rPr>
              <a:t>After 14-day culture, titers differ greatly between clones</a:t>
            </a:r>
          </a:p>
          <a:p>
            <a:pPr lvl="1">
              <a:lnSpc>
                <a:spcPct val="110000"/>
              </a:lnSpc>
              <a:spcAft>
                <a:spcPts val="1100"/>
              </a:spcAft>
            </a:pPr>
            <a:r>
              <a:rPr sz="1600" b="0">
                <a:solidFill>
                  <a:srgbClr val="5A6B73"/>
                </a:solidFill>
                <a:latin typeface="Arial"/>
              </a:rPr>
              <a:t>–  </a:t>
            </a:r>
            <a:r>
              <a:rPr sz="1500">
                <a:solidFill>
                  <a:srgbClr val="1E2B32"/>
                </a:solidFill>
                <a:latin typeface="Arial"/>
              </a:rPr>
              <a:t>Clone08: ~12,000 mg/L (highest)</a:t>
            </a:r>
          </a:p>
          <a:p>
            <a:pPr lvl="1">
              <a:lnSpc>
                <a:spcPct val="110000"/>
              </a:lnSpc>
              <a:spcAft>
                <a:spcPts val="1100"/>
              </a:spcAft>
            </a:pPr>
            <a:r>
              <a:rPr sz="1600" b="0">
                <a:solidFill>
                  <a:srgbClr val="5A6B73"/>
                </a:solidFill>
                <a:latin typeface="Arial"/>
              </a:rPr>
              <a:t>–  </a:t>
            </a:r>
            <a:r>
              <a:rPr sz="1500">
                <a:solidFill>
                  <a:srgbClr val="1E2B32"/>
                </a:solidFill>
                <a:latin typeface="Arial"/>
              </a:rPr>
              <a:t>Clone07: ~7,800 mg/L (lowest)  →  ~1.5× difference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600" b="1">
                <a:solidFill>
                  <a:srgbClr val="028090"/>
                </a:solidFill>
                <a:latin typeface="Arial"/>
              </a:rPr>
              <a:t>●  </a:t>
            </a:r>
            <a:r>
              <a:rPr sz="1600">
                <a:solidFill>
                  <a:srgbClr val="1E2B32"/>
                </a:solidFill>
                <a:latin typeface="Arial"/>
              </a:rPr>
              <a:t>Is this because cells use nutrients differently?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600" b="1">
                <a:solidFill>
                  <a:srgbClr val="028090"/>
                </a:solidFill>
                <a:latin typeface="Arial"/>
              </a:rPr>
              <a:t>●  </a:t>
            </a:r>
            <a:r>
              <a:rPr sz="1600">
                <a:solidFill>
                  <a:srgbClr val="1E2B32"/>
                </a:solidFill>
                <a:latin typeface="Arial"/>
              </a:rPr>
              <a:t>Analyzing metabolic differences may reveal
common traits of high producers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828800"/>
            <a:ext cx="5212080" cy="1828800"/>
          </a:xfrm>
          <a:prstGeom prst="round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96596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A6B73"/>
                </a:solidFill>
                <a:latin typeface="Arial"/>
              </a:rPr>
              <a:t>Highest producer (Clone08)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286000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C0392B"/>
                </a:solidFill>
                <a:latin typeface="Arial"/>
              </a:rPr>
              <a:t>12,000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278892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C0392B"/>
                </a:solidFill>
                <a:latin typeface="Arial"/>
              </a:rPr>
              <a:t>mg/L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840480"/>
            <a:ext cx="5212080" cy="1828800"/>
          </a:xfrm>
          <a:prstGeom prst="round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977639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A6B73"/>
                </a:solidFill>
                <a:latin typeface="Arial"/>
              </a:rPr>
              <a:t>Lowest producer (Clone07)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297680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2E6DA4"/>
                </a:solidFill>
                <a:latin typeface="Arial"/>
              </a:rPr>
              <a:t>7,800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48006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2E6DA4"/>
                </a:solidFill>
                <a:latin typeface="Arial"/>
              </a:rPr>
              <a:t>mg/L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6B73"/>
                </a:solidFill>
                <a:latin typeface="Arial"/>
              </a:rPr>
              <a:t>CHO cell line metabolic analysis | negative = uptake, positive = secretion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73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PART 1 ·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A43"/>
                </a:solidFill>
                <a:latin typeface="Arial"/>
              </a:rPr>
              <a:t>Goals of this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3611880" cy="3108960"/>
          </a:xfrm>
          <a:prstGeom prst="round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3611880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28600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028090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24612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02A43"/>
                </a:solidFill>
                <a:latin typeface="Arial"/>
              </a:rPr>
              <a:t>Map metabolic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84048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3"/>
                </a:solidFill>
                <a:latin typeface="Arial"/>
              </a:rPr>
              <a:t>Quantify how high producers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3"/>
                </a:solidFill>
                <a:latin typeface="Arial"/>
              </a:rPr>
              <a:t>consume/secrete nutrients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1" y="1920240"/>
            <a:ext cx="3611880" cy="3108960"/>
          </a:xfrm>
          <a:prstGeom prst="round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1" y="1920240"/>
            <a:ext cx="3611880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1" y="228600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00A896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1" y="324612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02A43"/>
                </a:solidFill>
                <a:latin typeface="Arial"/>
              </a:rPr>
              <a:t>Link pathways to yield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1" y="384048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3"/>
                </a:solidFill>
                <a:latin typeface="Arial"/>
              </a:rPr>
              <a:t>Statistically identify pathways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3"/>
                </a:solidFill>
                <a:latin typeface="Arial"/>
              </a:rPr>
              <a:t>associated with productivity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3023" y="1920240"/>
            <a:ext cx="3611880" cy="3108960"/>
          </a:xfrm>
          <a:prstGeom prst="round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93023" y="1920240"/>
            <a:ext cx="3611880" cy="1097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7344" y="228600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102A43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7344" y="324612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02A43"/>
                </a:solidFill>
                <a:latin typeface="Arial"/>
              </a:rPr>
              <a:t>Design next experiments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4" y="384048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3"/>
                </a:solidFill>
                <a:latin typeface="Arial"/>
              </a:rPr>
              <a:t>Pre-screen gene-engineering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3"/>
                </a:solidFill>
                <a:latin typeface="Arial"/>
              </a:rPr>
              <a:t>and media-optimization targets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349240"/>
            <a:ext cx="11064240" cy="868680"/>
          </a:xfrm>
          <a:prstGeom prst="roundRect">
            <a:avLst/>
          </a:prstGeom>
          <a:solidFill>
            <a:srgbClr val="FB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C0392B"/>
                </a:solidFill>
                <a:latin typeface="Arial"/>
              </a:rPr>
              <a:t>Honest premise:  FBA is not a tool to predict clone titer ranking. The goal is to understand the metabolic state —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C0392B"/>
                </a:solidFill>
                <a:latin typeface="Arial"/>
              </a:rPr>
              <a:t>focusing on mechanism, not prediction. (See slide 7 for why.)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6B73"/>
                </a:solidFill>
                <a:latin typeface="Arial"/>
              </a:rPr>
              <a:t>CHO cell line metabolic analysis | negative = uptake, positive = secretion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73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PART 2 · FBA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A43"/>
                </a:solidFill>
                <a:latin typeface="Arial"/>
              </a:rPr>
              <a:t>Metabolic network = a vast road system inside the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66928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1">
                <a:solidFill>
                  <a:srgbClr val="028090"/>
                </a:solidFill>
                <a:latin typeface="Arial"/>
              </a:rPr>
              <a:t>●  </a:t>
            </a:r>
            <a:r>
              <a:rPr sz="1500">
                <a:solidFill>
                  <a:srgbClr val="1E2B32"/>
                </a:solidFill>
                <a:latin typeface="Arial"/>
              </a:rPr>
              <a:t>A cell is a "chemical factory" of thousands of reactions</a:t>
            </a:r>
          </a:p>
          <a:p>
            <a:pPr lvl="1">
              <a:lnSpc>
                <a:spcPct val="110000"/>
              </a:lnSpc>
              <a:spcAft>
                <a:spcPts val="900"/>
              </a:spcAft>
            </a:pPr>
            <a:r>
              <a:rPr sz="1500" b="0">
                <a:solidFill>
                  <a:srgbClr val="5A6B73"/>
                </a:solidFill>
                <a:latin typeface="Arial"/>
              </a:rPr>
              <a:t>–  </a:t>
            </a:r>
            <a:r>
              <a:rPr sz="1400">
                <a:solidFill>
                  <a:srgbClr val="1E2B32"/>
                </a:solidFill>
                <a:latin typeface="Arial"/>
              </a:rPr>
              <a:t>Glucose and amino acids go in (uptake)</a:t>
            </a:r>
          </a:p>
          <a:p>
            <a:pPr lvl="1">
              <a:lnSpc>
                <a:spcPct val="110000"/>
              </a:lnSpc>
              <a:spcAft>
                <a:spcPts val="900"/>
              </a:spcAft>
            </a:pPr>
            <a:r>
              <a:rPr sz="1500" b="0">
                <a:solidFill>
                  <a:srgbClr val="5A6B73"/>
                </a:solidFill>
                <a:latin typeface="Arial"/>
              </a:rPr>
              <a:t>–  </a:t>
            </a:r>
            <a:r>
              <a:rPr sz="1400">
                <a:solidFill>
                  <a:srgbClr val="1E2B32"/>
                </a:solidFill>
                <a:latin typeface="Arial"/>
              </a:rPr>
              <a:t>→ ATP (energy), proteins, antibody come out (secretion)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1">
                <a:solidFill>
                  <a:srgbClr val="028090"/>
                </a:solidFill>
                <a:latin typeface="Arial"/>
              </a:rPr>
              <a:t>●  </a:t>
            </a:r>
            <a:r>
              <a:rPr sz="1500">
                <a:solidFill>
                  <a:srgbClr val="1E2B32"/>
                </a:solidFill>
                <a:latin typeface="Arial"/>
              </a:rPr>
              <a:t>The iCHO3K model maps all these reactions</a:t>
            </a:r>
          </a:p>
          <a:p>
            <a:pPr lvl="1">
              <a:lnSpc>
                <a:spcPct val="110000"/>
              </a:lnSpc>
              <a:spcAft>
                <a:spcPts val="900"/>
              </a:spcAft>
            </a:pPr>
            <a:r>
              <a:rPr sz="1500" b="0">
                <a:solidFill>
                  <a:srgbClr val="5A6B73"/>
                </a:solidFill>
                <a:latin typeface="Arial"/>
              </a:rPr>
              <a:t>–  </a:t>
            </a:r>
            <a:r>
              <a:rPr sz="1400">
                <a:solidFill>
                  <a:srgbClr val="1E2B32"/>
                </a:solidFill>
                <a:latin typeface="Arial"/>
              </a:rPr>
              <a:t>8,368 reactions, 4,695 metabolites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1">
                <a:solidFill>
                  <a:srgbClr val="028090"/>
                </a:solidFill>
                <a:latin typeface="Arial"/>
              </a:rPr>
              <a:t>●  </a:t>
            </a:r>
            <a:r>
              <a:rPr sz="1500">
                <a:solidFill>
                  <a:srgbClr val="1E2B32"/>
                </a:solidFill>
                <a:latin typeface="Arial"/>
              </a:rPr>
              <a:t>Analogy: a city road network</a:t>
            </a:r>
          </a:p>
          <a:p>
            <a:pPr lvl="1">
              <a:lnSpc>
                <a:spcPct val="110000"/>
              </a:lnSpc>
              <a:spcAft>
                <a:spcPts val="900"/>
              </a:spcAft>
            </a:pPr>
            <a:r>
              <a:rPr sz="1500" b="0">
                <a:solidFill>
                  <a:srgbClr val="5A6B73"/>
                </a:solidFill>
                <a:latin typeface="Arial"/>
              </a:rPr>
              <a:t>–  </a:t>
            </a:r>
            <a:r>
              <a:rPr sz="1400">
                <a:solidFill>
                  <a:srgbClr val="1E2B32"/>
                </a:solidFill>
                <a:latin typeface="Arial"/>
              </a:rPr>
              <a:t>Metabolites = cars on the road</a:t>
            </a:r>
          </a:p>
          <a:p>
            <a:pPr lvl="1">
              <a:lnSpc>
                <a:spcPct val="110000"/>
              </a:lnSpc>
              <a:spcAft>
                <a:spcPts val="900"/>
              </a:spcAft>
            </a:pPr>
            <a:r>
              <a:rPr sz="1500" b="0">
                <a:solidFill>
                  <a:srgbClr val="5A6B73"/>
                </a:solidFill>
                <a:latin typeface="Arial"/>
              </a:rPr>
              <a:t>–  </a:t>
            </a:r>
            <a:r>
              <a:rPr sz="1400">
                <a:solidFill>
                  <a:srgbClr val="1E2B32"/>
                </a:solidFill>
                <a:latin typeface="Arial"/>
              </a:rPr>
              <a:t>Reactions = the roads the cars travel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828800"/>
            <a:ext cx="5120640" cy="4023360"/>
          </a:xfrm>
          <a:prstGeom prst="round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201168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02A43"/>
                </a:solidFill>
                <a:latin typeface="Arial"/>
              </a:rPr>
              <a:t>City = Cell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2743200"/>
            <a:ext cx="1371600" cy="822960"/>
          </a:xfrm>
          <a:prstGeom prst="roundRect">
            <a:avLst/>
          </a:prstGeom>
          <a:solidFill>
            <a:srgbClr val="6F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2880360"/>
            <a:ext cx="1371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02A43"/>
                </a:solidFill>
                <a:latin typeface="Arial"/>
              </a:rPr>
              <a:t>Glucose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02A43"/>
                </a:solidFill>
                <a:latin typeface="Arial"/>
              </a:rPr>
              <a:t>Amino acids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2697480"/>
            <a:ext cx="1280160" cy="91440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834640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Metabolic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network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66959" y="2743200"/>
            <a:ext cx="1280160" cy="82296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59" y="2880360"/>
            <a:ext cx="1280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Antibody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ATP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88036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5A6B73"/>
                </a:solidFill>
                <a:latin typeface="Arial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288036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5A6B73"/>
                </a:solidFill>
                <a:latin typeface="Arial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023360"/>
            <a:ext cx="43891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5A6B73"/>
                </a:solidFill>
                <a:latin typeface="Arial"/>
              </a:rPr>
              <a:t>We can only measure traffic at the city</a:t>
            </a:r>
          </a:p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5A6B73"/>
                </a:solidFill>
                <a:latin typeface="Arial"/>
              </a:rPr>
              <a:t>entrance/exit (medium concentration changes).</a:t>
            </a:r>
          </a:p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5A6B73"/>
                </a:solidFill>
                <a:latin typeface="Arial"/>
              </a:rPr>
              <a:t>What routes the cars take inside</a:t>
            </a:r>
          </a:p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5A6B73"/>
                </a:solidFill>
                <a:latin typeface="Arial"/>
              </a:rPr>
              <a:t>cannot be observed directly.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6B73"/>
                </a:solidFill>
                <a:latin typeface="Arial"/>
              </a:rPr>
              <a:t>CHO cell line metabolic analysis | negative = uptake, positive = secretion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73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PART 2 · FBA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A43"/>
                </a:solidFill>
                <a:latin typeface="Arial"/>
              </a:rPr>
              <a:t>FBA: inferring internal flux from inputs and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2B32"/>
                </a:solidFill>
                <a:latin typeface="Arial"/>
              </a:rPr>
              <a:t>Flux Balance Analysis (FBA) = compute unmeasurable internal flux from measurable inputs/outputs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651760"/>
            <a:ext cx="2926080" cy="1737360"/>
          </a:xfrm>
          <a:prstGeom prst="roundRect">
            <a:avLst/>
          </a:prstGeom>
          <a:solidFill>
            <a:srgbClr val="6F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88036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02A43"/>
                </a:solidFill>
                <a:latin typeface="Arial"/>
              </a:rPr>
              <a:t>Measurable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42900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102A43"/>
                </a:solidFill>
                <a:latin typeface="Arial"/>
              </a:rPr>
              <a:t>Glucose, lactate,</a:t>
            </a:r>
          </a:p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102A43"/>
                </a:solidFill>
                <a:latin typeface="Arial"/>
              </a:rPr>
              <a:t>amino acid changes in medium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3154680"/>
            <a:ext cx="640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5A6B73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651760"/>
            <a:ext cx="2926080" cy="173736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288036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FBA compute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42900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FFFFFF"/>
                </a:solidFill>
                <a:latin typeface="Arial"/>
              </a:rPr>
              <a:t>Mathematical optimization</a:t>
            </a:r>
          </a:p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FFFFFF"/>
                </a:solidFill>
                <a:latin typeface="Arial"/>
              </a:rPr>
              <a:t>estimates internal flux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154680"/>
            <a:ext cx="640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5A6B73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651760"/>
            <a:ext cx="2926080" cy="1737360"/>
          </a:xfrm>
          <a:prstGeom prst="round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88036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Unmeasurable → inferred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42900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FFFFFF"/>
                </a:solidFill>
                <a:latin typeface="Arial"/>
              </a:rPr>
              <a:t>Internal flux: TCA,</a:t>
            </a:r>
          </a:p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FFFFFF"/>
                </a:solidFill>
                <a:latin typeface="Arial"/>
              </a:rPr>
              <a:t>glycolysis, etc.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937760"/>
            <a:ext cx="11064240" cy="1280160"/>
          </a:xfrm>
          <a:prstGeom prst="round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12064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A6B73"/>
                </a:solidFill>
                <a:latin typeface="Arial"/>
              </a:rPr>
              <a:t>Analogy:  Knowing only entrance/exit traffic, plus the road map (model) and the assumption that "cars flow efficiently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A6B73"/>
                </a:solidFill>
                <a:latin typeface="Arial"/>
              </a:rPr>
              <a:t>without congestion," we can back-calculate traffic on each internal road. That is exactly what FBA does.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6B73"/>
                </a:solidFill>
                <a:latin typeface="Arial"/>
              </a:rPr>
              <a:t>CHO cell line metabolic analysis | negative = uptake, positive = secretion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73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PART 2 · FBA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A43"/>
                </a:solidFill>
                <a:latin typeface="Arial"/>
              </a:rPr>
              <a:t>Three core assumptions of FBA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74519"/>
            <a:ext cx="128016" cy="132588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20239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02A43"/>
                </a:solidFill>
                <a:latin typeface="Arial"/>
              </a:rPr>
              <a:t>Steady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87752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1">
                <a:solidFill>
                  <a:srgbClr val="028090"/>
                </a:solidFill>
                <a:latin typeface="Arial"/>
              </a:rPr>
              <a:t>Steady-state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984248"/>
            <a:ext cx="7406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73"/>
                </a:solidFill>
                <a:latin typeface="Arial"/>
              </a:rPr>
              <a:t>Internal metabolite concentrations stay constant.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73"/>
                </a:solidFill>
                <a:latin typeface="Arial"/>
              </a:rPr>
              <a:t>Amount in = amount out (no accumulation)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55848"/>
            <a:ext cx="128016" cy="132588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0156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02A43"/>
                </a:solidFill>
                <a:latin typeface="Arial"/>
              </a:rPr>
              <a:t>Objective function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0690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1">
                <a:solidFill>
                  <a:srgbClr val="00A896"/>
                </a:solidFill>
                <a:latin typeface="Arial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465576"/>
            <a:ext cx="7406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73"/>
                </a:solidFill>
                <a:latin typeface="Arial"/>
              </a:rPr>
              <a:t>The cell is assumed to maximize something —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73"/>
                </a:solidFill>
                <a:latin typeface="Arial"/>
              </a:rPr>
              <a:t>usually growth (biomass) or antibody production (IgG)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837176"/>
            <a:ext cx="128016" cy="13258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882896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02A43"/>
                </a:solidFill>
                <a:latin typeface="Arial"/>
              </a:rPr>
              <a:t>Constraints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55040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1">
                <a:solidFill>
                  <a:srgbClr val="102A43"/>
                </a:solidFill>
                <a:latin typeface="Arial"/>
              </a:rPr>
              <a:t>Constraints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946904"/>
            <a:ext cx="7406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73"/>
                </a:solidFill>
                <a:latin typeface="Arial"/>
              </a:rPr>
              <a:t>Measured uptake/secretion rates set flux bounds.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73"/>
                </a:solidFill>
                <a:latin typeface="Arial"/>
              </a:rPr>
              <a:t>Medium concentration defines the "hard limits"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6B73"/>
                </a:solidFill>
                <a:latin typeface="Arial"/>
              </a:rPr>
              <a:t>CHO cell line metabolic analysis | negative = uptake, positive = secretion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73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PART 2 · FBA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A43"/>
                </a:solidFill>
                <a:latin typeface="Arial"/>
              </a:rPr>
              <a:t>★ What FBA can and cannot 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394960" cy="4114800"/>
          </a:xfrm>
          <a:prstGeom prst="roundRect">
            <a:avLst/>
          </a:prstGeom>
          <a:solidFill>
            <a:srgbClr val="EC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94960" cy="54864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01952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✓ 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484632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500" b="1">
                <a:solidFill>
                  <a:srgbClr val="00A896"/>
                </a:solidFill>
                <a:latin typeface="Arial"/>
              </a:rPr>
              <a:t>●  </a:t>
            </a:r>
            <a:r>
              <a:rPr sz="1500">
                <a:solidFill>
                  <a:srgbClr val="1E2B32"/>
                </a:solidFill>
                <a:latin typeface="Arial"/>
              </a:rPr>
              <a:t>Characterize metabolic state (active pathways)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500" b="1">
                <a:solidFill>
                  <a:srgbClr val="00A896"/>
                </a:solidFill>
                <a:latin typeface="Arial"/>
              </a:rPr>
              <a:t>●  </a:t>
            </a:r>
            <a:r>
              <a:rPr sz="1500">
                <a:solidFill>
                  <a:srgbClr val="1E2B32"/>
                </a:solidFill>
                <a:latin typeface="Arial"/>
              </a:rPr>
              <a:t>Estimate feasible flux ranges (FVA)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500" b="1">
                <a:solidFill>
                  <a:srgbClr val="00A896"/>
                </a:solidFill>
                <a:latin typeface="Arial"/>
              </a:rPr>
              <a:t>●  </a:t>
            </a:r>
            <a:r>
              <a:rPr sz="1500">
                <a:solidFill>
                  <a:srgbClr val="1E2B32"/>
                </a:solidFill>
                <a:latin typeface="Arial"/>
              </a:rPr>
              <a:t>Identify gene/reaction knockout targets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500" b="1">
                <a:solidFill>
                  <a:srgbClr val="00A896"/>
                </a:solidFill>
                <a:latin typeface="Arial"/>
              </a:rPr>
              <a:t>●  </a:t>
            </a:r>
            <a:r>
              <a:rPr sz="1500">
                <a:solidFill>
                  <a:srgbClr val="1E2B32"/>
                </a:solidFill>
                <a:latin typeface="Arial"/>
              </a:rPr>
              <a:t>Simulate media composition optimization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500" b="1">
                <a:solidFill>
                  <a:srgbClr val="00A896"/>
                </a:solidFill>
                <a:latin typeface="Arial"/>
              </a:rPr>
              <a:t>●  </a:t>
            </a:r>
            <a:r>
              <a:rPr sz="1500">
                <a:solidFill>
                  <a:srgbClr val="1E2B32"/>
                </a:solidFill>
                <a:latin typeface="Arial"/>
              </a:rPr>
              <a:t>Infer unmeasurable internal flux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94960" cy="4114800"/>
          </a:xfrm>
          <a:prstGeom prst="roundRect">
            <a:avLst/>
          </a:prstGeom>
          <a:solidFill>
            <a:srgbClr val="FB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94960" cy="5486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901952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✗  CANNOT 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606040"/>
            <a:ext cx="484632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C0392B"/>
                </a:solidFill>
                <a:latin typeface="Arial"/>
              </a:rPr>
              <a:t>●  </a:t>
            </a:r>
            <a:r>
              <a:rPr sz="1500">
                <a:solidFill>
                  <a:srgbClr val="1E2B32"/>
                </a:solidFill>
                <a:latin typeface="Arial"/>
              </a:rPr>
              <a:t>Predict clone titer ranking</a:t>
            </a:r>
          </a:p>
          <a:p>
            <a:pPr lvl="1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5A6B73"/>
                </a:solidFill>
                <a:latin typeface="Arial"/>
              </a:rPr>
              <a:t>–  </a:t>
            </a:r>
            <a:r>
              <a:rPr sz="1400">
                <a:solidFill>
                  <a:srgbClr val="1E2B32"/>
                </a:solidFill>
                <a:latin typeface="Arial"/>
              </a:rPr>
              <a:t>All clones share the same stoichiometry
→ identical FBA objective values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C0392B"/>
                </a:solidFill>
                <a:latin typeface="Arial"/>
              </a:rPr>
              <a:t>●  </a:t>
            </a:r>
            <a:r>
              <a:rPr sz="1500">
                <a:solidFill>
                  <a:srgbClr val="1E2B32"/>
                </a:solidFill>
                <a:latin typeface="Arial"/>
              </a:rPr>
              <a:t>Reflect transcriptome (expression) differences</a:t>
            </a:r>
          </a:p>
          <a:p>
            <a:pPr lvl="1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5A6B73"/>
                </a:solidFill>
                <a:latin typeface="Arial"/>
              </a:rPr>
              <a:t>–  </a:t>
            </a:r>
            <a:r>
              <a:rPr sz="1400">
                <a:solidFill>
                  <a:srgbClr val="1E2B32"/>
                </a:solidFill>
                <a:latin typeface="Arial"/>
              </a:rPr>
              <a:t>Same model = same reactions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C0392B"/>
                </a:solidFill>
                <a:latin typeface="Arial"/>
              </a:rPr>
              <a:t>●  </a:t>
            </a:r>
            <a:r>
              <a:rPr sz="1500">
                <a:solidFill>
                  <a:srgbClr val="1E2B32"/>
                </a:solidFill>
                <a:latin typeface="Arial"/>
              </a:rPr>
              <a:t>→ Clone differences need RNA-seq or other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6B73"/>
                </a:solidFill>
                <a:latin typeface="Arial"/>
              </a:rPr>
              <a:t>CHO cell line metabolic analysis | negative = uptake, positive = secretion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73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PART 3 · OUR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A43"/>
                </a:solidFill>
                <a:latin typeface="Arial"/>
              </a:rPr>
              <a:t>The full pipeline 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743200"/>
            <a:ext cx="2084831" cy="1737360"/>
          </a:xfrm>
          <a:prstGeom prst="roundRect">
            <a:avLst/>
          </a:prstGeom>
          <a:solidFill>
            <a:srgbClr val="6F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971800"/>
            <a:ext cx="190195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02A43"/>
                </a:solidFill>
                <a:latin typeface="Arial"/>
              </a:rPr>
              <a:t>Raw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03320"/>
            <a:ext cx="190195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02A43"/>
                </a:solidFill>
                <a:latin typeface="Arial"/>
              </a:rPr>
              <a:t>VCD · IgG</a:t>
            </a:r>
          </a:p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02A43"/>
                </a:solidFill>
                <a:latin typeface="Arial"/>
              </a:rPr>
              <a:t>Glucose, lactate, 20 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87752" y="3291840"/>
            <a:ext cx="411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A6B73"/>
                </a:solidFill>
                <a:latin typeface="Arial"/>
              </a:rPr>
              <a:t>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9503" y="2743200"/>
            <a:ext cx="2084831" cy="173736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80944" y="2971800"/>
            <a:ext cx="190195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Step 1</a:t>
            </a:r>
          </a:p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Metabolic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80944" y="3703320"/>
            <a:ext cx="190195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Arial"/>
              </a:rPr>
              <a:t>Feed correction</a:t>
            </a:r>
          </a:p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Arial"/>
              </a:rPr>
              <a:t>mmol/gDCW/h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8616" y="3291840"/>
            <a:ext cx="411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A6B73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0367" y="2743200"/>
            <a:ext cx="2084831" cy="173736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21807" y="2971800"/>
            <a:ext cx="190195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Step 2</a:t>
            </a:r>
          </a:p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Model constraint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1807" y="3703320"/>
            <a:ext cx="190195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Arial"/>
              </a:rPr>
              <a:t>Input measurements</a:t>
            </a:r>
          </a:p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Arial"/>
              </a:rPr>
              <a:t>to iCHO3K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79" y="3291840"/>
            <a:ext cx="411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A6B73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71231" y="2743200"/>
            <a:ext cx="2084831" cy="173736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62671" y="2971800"/>
            <a:ext cx="190195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Step 3-4</a:t>
            </a:r>
          </a:p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FBA·FVA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2671" y="3703320"/>
            <a:ext cx="190195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Arial"/>
              </a:rPr>
              <a:t>Flux distribution</a:t>
            </a:r>
          </a:p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Arial"/>
              </a:rPr>
              <a:t>+ ranges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10343" y="3291840"/>
            <a:ext cx="411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A6B73"/>
                </a:solidFill>
                <a:latin typeface="Arial"/>
              </a:rP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12095" y="2743200"/>
            <a:ext cx="2084831" cy="1737360"/>
          </a:xfrm>
          <a:prstGeom prst="round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03535" y="2971800"/>
            <a:ext cx="190195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Step 5</a:t>
            </a:r>
          </a:p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Interpret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3535" y="3703320"/>
            <a:ext cx="190195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Arial"/>
              </a:rPr>
              <a:t>KO · internal</a:t>
            </a:r>
          </a:p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Arial"/>
              </a:rPr>
              <a:t>metabolism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A6B73"/>
                </a:solidFill>
                <a:latin typeface="Arial"/>
              </a:rPr>
              <a:t>Core flow:  Experimental measurements (input) → convert to per-cell metabolic rates → apply as model constraints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A6B73"/>
                </a:solidFill>
                <a:latin typeface="Arial"/>
              </a:rPr>
              <a:t>→ compute internal flux by optimization → compare high vs low producers → derive biological meaning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6B73"/>
                </a:solidFill>
                <a:latin typeface="Arial"/>
              </a:rPr>
              <a:t>CHO cell line metabolic analysis | negative = uptake, positive = secretion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73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PART 3 · OUR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A43"/>
                </a:solidFill>
                <a:latin typeface="Arial"/>
              </a:rPr>
              <a:t>Step 1.  Measurements → metabolic 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3949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 b="1">
                <a:solidFill>
                  <a:srgbClr val="028090"/>
                </a:solidFill>
                <a:latin typeface="Arial"/>
              </a:rPr>
              <a:t>●  </a:t>
            </a:r>
            <a:r>
              <a:rPr sz="1400">
                <a:solidFill>
                  <a:srgbClr val="1E2B32"/>
                </a:solidFill>
                <a:latin typeface="Arial"/>
              </a:rPr>
              <a:t>Measured variables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5A6B73"/>
                </a:solidFill>
                <a:latin typeface="Arial"/>
              </a:rPr>
              <a:t>–  </a:t>
            </a:r>
            <a:r>
              <a:rPr sz="1300">
                <a:solidFill>
                  <a:srgbClr val="1E2B32"/>
                </a:solidFill>
                <a:latin typeface="Arial"/>
              </a:rPr>
              <a:t>VCD (viable cell density), IgG titer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5A6B73"/>
                </a:solidFill>
                <a:latin typeface="Arial"/>
              </a:rPr>
              <a:t>–  </a:t>
            </a:r>
            <a:r>
              <a:rPr sz="1300">
                <a:solidFill>
                  <a:srgbClr val="1E2B32"/>
                </a:solidFill>
                <a:latin typeface="Arial"/>
              </a:rPr>
              <a:t>Glucose, lactate, ammonia, 20 amino acids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 b="1">
                <a:solidFill>
                  <a:srgbClr val="028090"/>
                </a:solidFill>
                <a:latin typeface="Arial"/>
              </a:rPr>
              <a:t>●  </a:t>
            </a:r>
            <a:r>
              <a:rPr sz="1400">
                <a:solidFill>
                  <a:srgbClr val="1E2B32"/>
                </a:solidFill>
                <a:latin typeface="Arial"/>
              </a:rPr>
              <a:t>Feed correction is critical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5A6B73"/>
                </a:solidFill>
                <a:latin typeface="Arial"/>
              </a:rPr>
              <a:t>–  </a:t>
            </a:r>
            <a:r>
              <a:rPr sz="1300">
                <a:solidFill>
                  <a:srgbClr val="1E2B32"/>
                </a:solidFill>
                <a:latin typeface="Arial"/>
              </a:rPr>
              <a:t>Fed-batch adds nutrients mid-culture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5A6B73"/>
                </a:solidFill>
                <a:latin typeface="Arial"/>
              </a:rPr>
              <a:t>–  </a:t>
            </a:r>
            <a:r>
              <a:rPr sz="1300">
                <a:solidFill>
                  <a:srgbClr val="1E2B32"/>
                </a:solidFill>
                <a:latin typeface="Arial"/>
              </a:rPr>
              <a:t>Must subtract feed to get true consumption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 b="1">
                <a:solidFill>
                  <a:srgbClr val="028090"/>
                </a:solidFill>
                <a:latin typeface="Arial"/>
              </a:rPr>
              <a:t>●  </a:t>
            </a:r>
            <a:r>
              <a:rPr sz="1400">
                <a:solidFill>
                  <a:srgbClr val="1E2B32"/>
                </a:solidFill>
                <a:latin typeface="Arial"/>
              </a:rPr>
              <a:t>Result: per-cell metabolic rate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5A6B73"/>
                </a:solidFill>
                <a:latin typeface="Arial"/>
              </a:rPr>
              <a:t>–  </a:t>
            </a:r>
            <a:r>
              <a:rPr sz="1300">
                <a:solidFill>
                  <a:srgbClr val="1E2B32"/>
                </a:solidFill>
                <a:latin typeface="Arial"/>
              </a:rPr>
              <a:t>Unit mmol/gDCW/h (per cell mass per time)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5A6B73"/>
                </a:solidFill>
                <a:latin typeface="Arial"/>
              </a:rPr>
              <a:t>–  </a:t>
            </a:r>
            <a:r>
              <a:rPr sz="1300">
                <a:solidFill>
                  <a:srgbClr val="1E2B32"/>
                </a:solidFill>
                <a:latin typeface="Arial"/>
              </a:rPr>
              <a:t>Day 7→10 interval used (exponential phase)</a:t>
            </a:r>
          </a:p>
        </p:txBody>
      </p:sp>
      <p:pic>
        <p:nvPicPr>
          <p:cNvPr id="5" name="Picture 4" descr="Fig1_IgG_timecou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296314"/>
            <a:ext cx="5577840" cy="30883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594360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A6B73"/>
                </a:solidFill>
                <a:latin typeface="Arial"/>
              </a:rPr>
              <a:t>Figure 1. IgG production curves for 9 clones (red=top 3, blue=bottom 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6B73"/>
                </a:solidFill>
                <a:latin typeface="Arial"/>
              </a:rPr>
              <a:t>CHO cell line metabolic analysis | negative = uptake, positive = secretion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73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PART 3 · OUR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A43"/>
                </a:solidFill>
                <a:latin typeface="Arial"/>
              </a:rPr>
              <a:t>Step 2.  The iCHO3K metabolic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48640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028090"/>
                </a:solidFill>
                <a:latin typeface="Arial"/>
              </a:rPr>
              <a:t>●  </a:t>
            </a:r>
            <a:r>
              <a:rPr sz="1500">
                <a:solidFill>
                  <a:srgbClr val="1E2B32"/>
                </a:solidFill>
                <a:latin typeface="Arial"/>
              </a:rPr>
              <a:t>iCHO3K = genome-scale CHO metabolic model</a:t>
            </a:r>
          </a:p>
          <a:p>
            <a:pPr lvl="1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5A6B73"/>
                </a:solidFill>
                <a:latin typeface="Arial"/>
              </a:rPr>
              <a:t>–  </a:t>
            </a:r>
            <a:r>
              <a:rPr sz="1400">
                <a:solidFill>
                  <a:srgbClr val="1E2B32"/>
                </a:solidFill>
                <a:latin typeface="Arial"/>
              </a:rPr>
              <a:t>8,368 reactions, 4,695 metabolites, 2,929 genes</a:t>
            </a:r>
          </a:p>
          <a:p>
            <a:pPr lvl="1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5A6B73"/>
                </a:solidFill>
                <a:latin typeface="Arial"/>
              </a:rPr>
              <a:t>–  </a:t>
            </a:r>
            <a:r>
              <a:rPr sz="1400">
                <a:solidFill>
                  <a:srgbClr val="1E2B32"/>
                </a:solidFill>
                <a:latin typeface="Arial"/>
              </a:rPr>
              <a:t>Hernandez Bort et al. (2023) NPJ Syst Biol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028090"/>
                </a:solidFill>
                <a:latin typeface="Arial"/>
              </a:rPr>
              <a:t>●  </a:t>
            </a:r>
            <a:r>
              <a:rPr sz="1500">
                <a:solidFill>
                  <a:srgbClr val="1E2B32"/>
                </a:solidFill>
                <a:latin typeface="Arial"/>
              </a:rPr>
              <a:t>Production version used (cho_prod)</a:t>
            </a:r>
          </a:p>
          <a:p>
            <a:pPr lvl="1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5A6B73"/>
                </a:solidFill>
                <a:latin typeface="Arial"/>
              </a:rPr>
              <a:t>–  </a:t>
            </a:r>
            <a:r>
              <a:rPr sz="1400">
                <a:solidFill>
                  <a:srgbClr val="1E2B32"/>
                </a:solidFill>
                <a:latin typeface="Arial"/>
              </a:rPr>
              <a:t>Includes IgG heavy-chain / light-chain synthesis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028090"/>
                </a:solidFill>
                <a:latin typeface="Arial"/>
              </a:rPr>
              <a:t>●  </a:t>
            </a:r>
            <a:r>
              <a:rPr sz="1500">
                <a:solidFill>
                  <a:srgbClr val="1E2B32"/>
                </a:solidFill>
                <a:latin typeface="Arial"/>
              </a:rPr>
              <a:t>Step 1 rates applied as constraints</a:t>
            </a:r>
          </a:p>
          <a:p>
            <a:pPr lvl="1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5A6B73"/>
                </a:solidFill>
                <a:latin typeface="Arial"/>
              </a:rPr>
              <a:t>–  </a:t>
            </a:r>
            <a:r>
              <a:rPr sz="1400">
                <a:solidFill>
                  <a:srgbClr val="1E2B32"/>
                </a:solidFill>
                <a:latin typeface="Arial"/>
              </a:rPr>
              <a:t>Uptake/secretion limits set per clone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920240"/>
            <a:ext cx="4937760" cy="1143000"/>
          </a:xfrm>
          <a:prstGeom prst="round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75120" y="1920240"/>
            <a:ext cx="109728" cy="11430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2084832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28090"/>
                </a:solidFill>
                <a:latin typeface="Arial"/>
              </a:rPr>
              <a:t>8,368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2304288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5A6B73"/>
                </a:solidFill>
                <a:latin typeface="Arial"/>
              </a:rPr>
              <a:t>reactions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3246120"/>
            <a:ext cx="4937760" cy="1143000"/>
          </a:xfrm>
          <a:prstGeom prst="round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3246120"/>
            <a:ext cx="109728" cy="1143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3410712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0A896"/>
                </a:solidFill>
                <a:latin typeface="Arial"/>
              </a:rPr>
              <a:t>4,695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3630168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5A6B73"/>
                </a:solidFill>
                <a:latin typeface="Arial"/>
              </a:rPr>
              <a:t>metabolites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4572000"/>
            <a:ext cx="4937760" cy="1143000"/>
          </a:xfrm>
          <a:prstGeom prst="round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4572000"/>
            <a:ext cx="109728" cy="1143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4736592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02A43"/>
                </a:solidFill>
                <a:latin typeface="Arial"/>
              </a:rPr>
              <a:t>2,929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4956048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5A6B73"/>
                </a:solidFill>
                <a:latin typeface="Arial"/>
              </a:rPr>
              <a:t>genes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6B73"/>
                </a:solidFill>
                <a:latin typeface="Arial"/>
              </a:rPr>
              <a:t>CHO cell line metabolic analysis | negative = uptake, positive = secretion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73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PART 3 · OUR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A43"/>
                </a:solidFill>
                <a:latin typeface="Arial"/>
              </a:rPr>
              <a:t>Step 3-4.  FBA &amp; FVA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5394960" cy="3840480"/>
          </a:xfrm>
          <a:prstGeom prst="roundRect">
            <a:avLst/>
          </a:prstGeom>
          <a:solidFill>
            <a:srgbClr val="EC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28090"/>
                </a:solidFill>
                <a:latin typeface="Arial"/>
              </a:rPr>
              <a:t>FBA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B73"/>
                </a:solidFill>
                <a:latin typeface="Arial"/>
              </a:rPr>
              <a:t>Flux Balance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00400"/>
            <a:ext cx="475488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400" b="1">
                <a:solidFill>
                  <a:srgbClr val="028090"/>
                </a:solidFill>
                <a:latin typeface="Arial"/>
              </a:rPr>
              <a:t>●  </a:t>
            </a:r>
            <a:r>
              <a:rPr sz="1400">
                <a:solidFill>
                  <a:srgbClr val="1E2B32"/>
                </a:solidFill>
                <a:latin typeface="Arial"/>
              </a:rPr>
              <a:t>Computes one optimal flux distribution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400" b="1">
                <a:solidFill>
                  <a:srgbClr val="028090"/>
                </a:solidFill>
                <a:latin typeface="Arial"/>
              </a:rPr>
              <a:t>●  </a:t>
            </a:r>
            <a:r>
              <a:rPr sz="1400">
                <a:solidFill>
                  <a:srgbClr val="1E2B32"/>
                </a:solidFill>
                <a:latin typeface="Arial"/>
              </a:rPr>
              <a:t>A single solution maximizing the objective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400" b="1">
                <a:solidFill>
                  <a:srgbClr val="028090"/>
                </a:solidFill>
                <a:latin typeface="Arial"/>
              </a:rPr>
              <a:t>●  </a:t>
            </a:r>
            <a:r>
              <a:rPr sz="1400">
                <a:solidFill>
                  <a:srgbClr val="1E2B32"/>
                </a:solidFill>
                <a:latin typeface="Arial"/>
              </a:rPr>
              <a:t>"What is the most efficient metabolic
state under these conditions?"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394960" cy="3840480"/>
          </a:xfrm>
          <a:prstGeom prst="roundRect">
            <a:avLst/>
          </a:prstGeom>
          <a:solidFill>
            <a:srgbClr val="EC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0A896"/>
                </a:solidFill>
                <a:latin typeface="Arial"/>
              </a:rPr>
              <a:t>FVA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6974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B73"/>
                </a:solidFill>
                <a:latin typeface="Arial"/>
              </a:rPr>
              <a:t>Flux Variability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200400"/>
            <a:ext cx="475488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400" b="1">
                <a:solidFill>
                  <a:srgbClr val="00A896"/>
                </a:solidFill>
                <a:latin typeface="Arial"/>
              </a:rPr>
              <a:t>●  </a:t>
            </a:r>
            <a:r>
              <a:rPr sz="1400">
                <a:solidFill>
                  <a:srgbClr val="1E2B32"/>
                </a:solidFill>
                <a:latin typeface="Arial"/>
              </a:rPr>
              <a:t>Computes the range of feasible flux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400" b="1">
                <a:solidFill>
                  <a:srgbClr val="00A896"/>
                </a:solidFill>
                <a:latin typeface="Arial"/>
              </a:rPr>
              <a:t>●  </a:t>
            </a:r>
            <a:r>
              <a:rPr sz="1400">
                <a:solidFill>
                  <a:srgbClr val="1E2B32"/>
                </a:solidFill>
                <a:latin typeface="Arial"/>
              </a:rPr>
              <a:t>Maximum / minimum (uncertainty width)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400" b="1">
                <a:solidFill>
                  <a:srgbClr val="00A896"/>
                </a:solidFill>
                <a:latin typeface="Arial"/>
              </a:rPr>
              <a:t>●  </a:t>
            </a:r>
            <a:r>
              <a:rPr sz="1400">
                <a:solidFill>
                  <a:srgbClr val="1E2B32"/>
                </a:solidFill>
                <a:latin typeface="Arial"/>
              </a:rPr>
              <a:t>Narrow range = reaction is essential
Wide range = alternative routes exist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6B73"/>
                </a:solidFill>
                <a:latin typeface="Arial"/>
              </a:rPr>
              <a:t>CHO cell line metabolic analysis | negative = uptake, positive = secretion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73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PART 3 · OUR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A43"/>
                </a:solidFill>
                <a:latin typeface="Arial"/>
              </a:rPr>
              <a:t>Step 5.  In silico knockout screening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667512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1">
                <a:solidFill>
                  <a:srgbClr val="028090"/>
                </a:solidFill>
                <a:latin typeface="Arial"/>
              </a:rPr>
              <a:t>●  </a:t>
            </a:r>
            <a:r>
              <a:rPr sz="1500">
                <a:solidFill>
                  <a:srgbClr val="1E2B32"/>
                </a:solidFill>
                <a:latin typeface="Arial"/>
              </a:rPr>
              <a:t>"Would removing this reaction increase production?"</a:t>
            </a:r>
          </a:p>
          <a:p>
            <a:pPr lvl="1">
              <a:lnSpc>
                <a:spcPct val="110000"/>
              </a:lnSpc>
              <a:spcAft>
                <a:spcPts val="900"/>
              </a:spcAft>
            </a:pPr>
            <a:r>
              <a:rPr sz="1500" b="0">
                <a:solidFill>
                  <a:srgbClr val="5A6B73"/>
                </a:solidFill>
                <a:latin typeface="Arial"/>
              </a:rPr>
              <a:t>–  </a:t>
            </a:r>
            <a:r>
              <a:rPr sz="1400">
                <a:solidFill>
                  <a:srgbClr val="1E2B32"/>
                </a:solidFill>
                <a:latin typeface="Arial"/>
              </a:rPr>
              <a:t>Block a reaction (set to 0) in silico and recompute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1">
                <a:solidFill>
                  <a:srgbClr val="028090"/>
                </a:solidFill>
                <a:latin typeface="Arial"/>
              </a:rPr>
              <a:t>●  </a:t>
            </a:r>
            <a:r>
              <a:rPr sz="1500">
                <a:solidFill>
                  <a:srgbClr val="1E2B32"/>
                </a:solidFill>
                <a:latin typeface="Arial"/>
              </a:rPr>
              <a:t>Pre-screen before actual gene-editing experiments</a:t>
            </a:r>
          </a:p>
          <a:p>
            <a:pPr lvl="1">
              <a:lnSpc>
                <a:spcPct val="110000"/>
              </a:lnSpc>
              <a:spcAft>
                <a:spcPts val="900"/>
              </a:spcAft>
            </a:pPr>
            <a:r>
              <a:rPr sz="1500" b="0">
                <a:solidFill>
                  <a:srgbClr val="5A6B73"/>
                </a:solidFill>
                <a:latin typeface="Arial"/>
              </a:rPr>
              <a:t>–  </a:t>
            </a:r>
            <a:r>
              <a:rPr sz="1400">
                <a:solidFill>
                  <a:srgbClr val="1E2B32"/>
                </a:solidFill>
                <a:latin typeface="Arial"/>
              </a:rPr>
              <a:t>Rapidly screen hundreds of candidates</a:t>
            </a:r>
          </a:p>
          <a:p>
            <a:pPr lvl="1">
              <a:lnSpc>
                <a:spcPct val="110000"/>
              </a:lnSpc>
              <a:spcAft>
                <a:spcPts val="900"/>
              </a:spcAft>
            </a:pPr>
            <a:r>
              <a:rPr sz="1500" b="0">
                <a:solidFill>
                  <a:srgbClr val="5A6B73"/>
                </a:solidFill>
                <a:latin typeface="Arial"/>
              </a:rPr>
              <a:t>–  </a:t>
            </a:r>
            <a:r>
              <a:rPr sz="1400">
                <a:solidFill>
                  <a:srgbClr val="1E2B32"/>
                </a:solidFill>
                <a:latin typeface="Arial"/>
              </a:rPr>
              <a:t>Predict success/failure to save experimental cost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1">
                <a:solidFill>
                  <a:srgbClr val="028090"/>
                </a:solidFill>
                <a:latin typeface="Arial"/>
              </a:rPr>
              <a:t>●  </a:t>
            </a:r>
            <a:r>
              <a:rPr sz="1500">
                <a:solidFill>
                  <a:srgbClr val="1E2B32"/>
                </a:solidFill>
                <a:latin typeface="Arial"/>
              </a:rPr>
              <a:t>Example target</a:t>
            </a:r>
          </a:p>
          <a:p>
            <a:pPr lvl="1">
              <a:lnSpc>
                <a:spcPct val="110000"/>
              </a:lnSpc>
              <a:spcAft>
                <a:spcPts val="900"/>
              </a:spcAft>
            </a:pPr>
            <a:r>
              <a:rPr sz="1500" b="0">
                <a:solidFill>
                  <a:srgbClr val="5A6B73"/>
                </a:solidFill>
                <a:latin typeface="Arial"/>
              </a:rPr>
              <a:t>–  </a:t>
            </a:r>
            <a:r>
              <a:rPr sz="1400">
                <a:solidFill>
                  <a:srgbClr val="1E2B32"/>
                </a:solidFill>
                <a:latin typeface="Arial"/>
              </a:rPr>
              <a:t>Inhibit LDH (lactate production) → redirect flux to TCA</a:t>
            </a:r>
          </a:p>
          <a:p>
            <a:pPr lvl="1">
              <a:lnSpc>
                <a:spcPct val="110000"/>
              </a:lnSpc>
              <a:spcAft>
                <a:spcPts val="900"/>
              </a:spcAft>
            </a:pPr>
            <a:r>
              <a:rPr sz="1500" b="0">
                <a:solidFill>
                  <a:srgbClr val="5A6B73"/>
                </a:solidFill>
                <a:latin typeface="Arial"/>
              </a:rPr>
              <a:t>–  </a:t>
            </a:r>
            <a:r>
              <a:rPr sz="1400">
                <a:solidFill>
                  <a:srgbClr val="1E2B32"/>
                </a:solidFill>
                <a:latin typeface="Arial"/>
              </a:rPr>
              <a:t>Lim et al. (2010) Metab Eng — LDH KO case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2011680"/>
            <a:ext cx="4023360" cy="3291840"/>
          </a:xfrm>
          <a:prstGeom prst="round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22402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02A43"/>
                </a:solidFill>
                <a:latin typeface="Arial"/>
              </a:rPr>
              <a:t>KO simulation concept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2880360"/>
            <a:ext cx="3291840" cy="685800"/>
          </a:xfrm>
          <a:prstGeom prst="roundRect">
            <a:avLst/>
          </a:prstGeom>
          <a:solidFill>
            <a:srgbClr val="6F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299923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02A43"/>
                </a:solidFill>
                <a:latin typeface="Arial"/>
              </a:rPr>
              <a:t>Normal metabolism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361188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5A6B73"/>
                </a:solidFill>
                <a:latin typeface="Arial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4114800"/>
            <a:ext cx="3291840" cy="68580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4206240"/>
            <a:ext cx="3291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Remove reaction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&amp; recompute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4892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A6B73"/>
                </a:solidFill>
                <a:latin typeface="Arial"/>
              </a:rPr>
              <a:t>→ measure %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6B73"/>
                </a:solidFill>
                <a:latin typeface="Arial"/>
              </a:rPr>
              <a:t>CHO cell line metabolic analysis | negative = uptake, positive = secretion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73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PART 4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A43"/>
                </a:solidFill>
                <a:latin typeface="Arial"/>
              </a:rPr>
              <a:t>Result 1.  Metabolic signature of high producers</a:t>
            </a:r>
          </a:p>
        </p:txBody>
      </p:sp>
      <p:pic>
        <p:nvPicPr>
          <p:cNvPr id="4" name="Picture 3" descr="Fig2_rat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47766"/>
            <a:ext cx="7680960" cy="25854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920240"/>
            <a:ext cx="329184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300" b="1">
                <a:solidFill>
                  <a:srgbClr val="028090"/>
                </a:solidFill>
                <a:latin typeface="Arial"/>
              </a:rPr>
              <a:t>●  </a:t>
            </a:r>
            <a:r>
              <a:rPr sz="1300">
                <a:solidFill>
                  <a:srgbClr val="1E2B32"/>
                </a:solidFill>
                <a:latin typeface="Arial"/>
              </a:rPr>
              <a:t>Rows: clones (by IgG)
Cols: metabolites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300" b="1">
                <a:solidFill>
                  <a:srgbClr val="028090"/>
                </a:solidFill>
                <a:latin typeface="Arial"/>
              </a:rPr>
              <a:t>●  </a:t>
            </a:r>
            <a:r>
              <a:rPr sz="1300">
                <a:solidFill>
                  <a:srgbClr val="1E2B32"/>
                </a:solidFill>
                <a:latin typeface="Arial"/>
              </a:rPr>
              <a:t>Blue = uptake
Orange = secretion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300" b="1">
                <a:solidFill>
                  <a:srgbClr val="028090"/>
                </a:solidFill>
                <a:latin typeface="Arial"/>
              </a:rPr>
              <a:t>●  </a:t>
            </a:r>
            <a:r>
              <a:rPr sz="1300">
                <a:solidFill>
                  <a:srgbClr val="1E2B32"/>
                </a:solidFill>
                <a:latin typeface="Arial"/>
              </a:rPr>
              <a:t>Higher producers show</a:t>
            </a:r>
          </a:p>
          <a:p>
            <a:pPr lvl="1">
              <a:lnSpc>
                <a:spcPct val="110000"/>
              </a:lnSpc>
              <a:spcAft>
                <a:spcPts val="1100"/>
              </a:spcAft>
            </a:pPr>
            <a:r>
              <a:rPr sz="1300" b="0">
                <a:solidFill>
                  <a:srgbClr val="5A6B73"/>
                </a:solidFill>
                <a:latin typeface="Arial"/>
              </a:rPr>
              <a:t>–  </a:t>
            </a:r>
            <a:r>
              <a:rPr sz="1200">
                <a:solidFill>
                  <a:srgbClr val="1E2B32"/>
                </a:solidFill>
                <a:latin typeface="Arial"/>
              </a:rPr>
              <a:t>Less glucose uptake
(lighter blue on top)</a:t>
            </a:r>
          </a:p>
          <a:p>
            <a:pPr lvl="1">
              <a:lnSpc>
                <a:spcPct val="110000"/>
              </a:lnSpc>
              <a:spcAft>
                <a:spcPts val="1100"/>
              </a:spcAft>
            </a:pPr>
            <a:r>
              <a:rPr sz="1300" b="0">
                <a:solidFill>
                  <a:srgbClr val="5A6B73"/>
                </a:solidFill>
                <a:latin typeface="Arial"/>
              </a:rPr>
              <a:t>–  </a:t>
            </a:r>
            <a:r>
              <a:rPr sz="1200">
                <a:solidFill>
                  <a:srgbClr val="1E2B32"/>
                </a:solidFill>
                <a:latin typeface="Arial"/>
              </a:rPr>
              <a:t>Lactate re-uptake
(negative values)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6B73"/>
                </a:solidFill>
                <a:latin typeface="Arial"/>
              </a:rPr>
              <a:t>CHO cell line metabolic analysis | negative = uptake, positive = secretion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73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PART 4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A43"/>
                </a:solidFill>
                <a:latin typeface="Arial"/>
              </a:rPr>
              <a:t>★ Result 2.  Lactate/Glucose ratio — key finding</a:t>
            </a:r>
          </a:p>
        </p:txBody>
      </p:sp>
      <p:pic>
        <p:nvPicPr>
          <p:cNvPr id="4" name="Picture 3" descr="Fig3_lac_glc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66546"/>
            <a:ext cx="7498079" cy="307354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0" y="1828800"/>
            <a:ext cx="3474720" cy="1371600"/>
          </a:xfrm>
          <a:prstGeom prst="roundRect">
            <a:avLst/>
          </a:prstGeom>
          <a:solidFill>
            <a:srgbClr val="EC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196596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A6B73"/>
                </a:solidFill>
                <a:latin typeface="Arial"/>
              </a:rPr>
              <a:t>Correlation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28600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28090"/>
                </a:solidFill>
                <a:latin typeface="Arial"/>
              </a:rPr>
              <a:t>r = −0.86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88036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0392B"/>
                </a:solidFill>
                <a:latin typeface="Arial"/>
              </a:rPr>
              <a:t>p = 0.003 (significant)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3429000"/>
            <a:ext cx="3429000" cy="2468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028090"/>
                </a:solidFill>
                <a:latin typeface="Arial"/>
              </a:rPr>
              <a:t>●  </a:t>
            </a:r>
            <a:r>
              <a:rPr sz="1300">
                <a:solidFill>
                  <a:srgbClr val="1E2B32"/>
                </a:solidFill>
                <a:latin typeface="Arial"/>
              </a:rPr>
              <a:t>More negative Lac/Glc ratio
→ higher IgG titer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028090"/>
                </a:solidFill>
                <a:latin typeface="Arial"/>
              </a:rPr>
              <a:t>●  </a:t>
            </a:r>
            <a:r>
              <a:rPr sz="1300">
                <a:solidFill>
                  <a:srgbClr val="1E2B32"/>
                </a:solidFill>
                <a:latin typeface="Arial"/>
              </a:rPr>
              <a:t>Negative = lactate re-consumed
= active TCA cycle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028090"/>
                </a:solidFill>
                <a:latin typeface="Arial"/>
              </a:rPr>
              <a:t>●  </a:t>
            </a:r>
            <a:r>
              <a:rPr sz="1300">
                <a:solidFill>
                  <a:srgbClr val="1E2B32"/>
                </a:solidFill>
                <a:latin typeface="Arial"/>
              </a:rPr>
              <a:t>= efficient energy metabolism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6B73"/>
                </a:solidFill>
                <a:latin typeface="Arial"/>
              </a:rPr>
              <a:t>CHO cell line metabolic analysis | negative = uptake, positive = secretion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73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PART 4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A43"/>
                </a:solidFill>
                <a:latin typeface="Arial"/>
              </a:rPr>
              <a:t>Why does lactate re-consumption link to high yield?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5394960" cy="1828800"/>
          </a:xfrm>
          <a:prstGeom prst="roundRect">
            <a:avLst/>
          </a:prstGeom>
          <a:solidFill>
            <a:srgbClr val="FB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0392B"/>
                </a:solidFill>
                <a:latin typeface="Arial"/>
              </a:rPr>
              <a:t>Early culture (growth phase)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A6B73"/>
                </a:solidFill>
                <a:latin typeface="Arial"/>
              </a:rPr>
              <a:t>Glucose → pyruvate → lactate secreted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A6B73"/>
                </a:solidFill>
                <a:latin typeface="Arial"/>
              </a:rPr>
              <a:t>(Warburg effect, LDH overactive)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A6B73"/>
                </a:solidFill>
                <a:latin typeface="Arial"/>
              </a:rPr>
              <a:t>Inefficient fermentation for fast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65176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0" i="0">
                <a:solidFill>
                  <a:srgbClr val="028090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011680"/>
            <a:ext cx="5029200" cy="1828800"/>
          </a:xfrm>
          <a:prstGeom prst="roundRect">
            <a:avLst/>
          </a:prstGeom>
          <a:solidFill>
            <a:srgbClr val="EC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21488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0A896"/>
                </a:solidFill>
                <a:latin typeface="Arial"/>
              </a:rPr>
              <a:t>Late culture (production phase)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69748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A6B73"/>
                </a:solidFill>
                <a:latin typeface="Arial"/>
              </a:rPr>
              <a:t>Accumulated lactate re-uptaken → pyruvate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A6B73"/>
                </a:solidFill>
                <a:latin typeface="Arial"/>
              </a:rPr>
              <a:t>→ TCA cycle → ATP + antibody precursors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A6B73"/>
                </a:solidFill>
                <a:latin typeface="Arial"/>
              </a:rPr>
              <a:t>Metabolic shift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297680"/>
            <a:ext cx="11064240" cy="1737360"/>
          </a:xfrm>
          <a:prstGeom prst="round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805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02A43"/>
                </a:solidFill>
                <a:latin typeface="Arial"/>
              </a:rPr>
              <a:t>Key interpretation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834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A6B73"/>
                </a:solidFill>
                <a:latin typeface="Arial"/>
              </a:rPr>
              <a:t>High producers perform this "metabolic shift" better. Instead of discarding lactate, they recycle it as an energy source →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A6B73"/>
                </a:solidFill>
                <a:latin typeface="Arial"/>
              </a:rPr>
              <a:t>TCA cycle stays active → supplies enough ATP and precursors for antibody synthesis. The Lac/Glc ratio captures this shift efficiency at a glance.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6B73"/>
                </a:solidFill>
                <a:latin typeface="Arial"/>
              </a:rPr>
              <a:t>CHO cell line metabolic analysis | negative = uptake, positive = secretion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73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PART 4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A43"/>
                </a:solidFill>
                <a:latin typeface="Arial"/>
              </a:rPr>
              <a:t>Result 3.  High vs low producer comparison</a:t>
            </a:r>
          </a:p>
        </p:txBody>
      </p:sp>
      <p:pic>
        <p:nvPicPr>
          <p:cNvPr id="4" name="Picture 3" descr="Fig5_high_vs_low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64379"/>
            <a:ext cx="7863840" cy="33522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1920240"/>
            <a:ext cx="31089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028090"/>
                </a:solidFill>
                <a:latin typeface="Arial"/>
              </a:rPr>
              <a:t>●  </a:t>
            </a:r>
            <a:r>
              <a:rPr sz="1300">
                <a:solidFill>
                  <a:srgbClr val="1E2B32"/>
                </a:solidFill>
                <a:latin typeface="Arial"/>
              </a:rPr>
              <a:t>High 3 vs Low 3
group-mean comparison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028090"/>
                </a:solidFill>
                <a:latin typeface="Arial"/>
              </a:rPr>
              <a:t>●  </a:t>
            </a:r>
            <a:r>
              <a:rPr sz="1300">
                <a:solidFill>
                  <a:srgbClr val="1E2B32"/>
                </a:solidFill>
                <a:latin typeface="Arial"/>
              </a:rPr>
              <a:t>Glucose</a:t>
            </a:r>
          </a:p>
          <a:p>
            <a:pPr lvl="1">
              <a:lnSpc>
                <a:spcPct val="110000"/>
              </a:lnSpc>
              <a:spcAft>
                <a:spcPts val="1000"/>
              </a:spcAft>
            </a:pPr>
            <a:r>
              <a:rPr sz="1300" b="0">
                <a:solidFill>
                  <a:srgbClr val="5A6B73"/>
                </a:solidFill>
                <a:latin typeface="Arial"/>
              </a:rPr>
              <a:t>–  </a:t>
            </a:r>
            <a:r>
              <a:rPr sz="1200">
                <a:solidFill>
                  <a:srgbClr val="1E2B32"/>
                </a:solidFill>
                <a:latin typeface="Arial"/>
              </a:rPr>
              <a:t>High uptakes less
(more efficient)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028090"/>
                </a:solidFill>
                <a:latin typeface="Arial"/>
              </a:rPr>
              <a:t>●  </a:t>
            </a:r>
            <a:r>
              <a:rPr sz="1300">
                <a:solidFill>
                  <a:srgbClr val="1E2B32"/>
                </a:solidFill>
                <a:latin typeface="Arial"/>
              </a:rPr>
              <a:t>Lactate</a:t>
            </a:r>
          </a:p>
          <a:p>
            <a:pPr lvl="1">
              <a:lnSpc>
                <a:spcPct val="110000"/>
              </a:lnSpc>
              <a:spcAft>
                <a:spcPts val="1000"/>
              </a:spcAft>
            </a:pPr>
            <a:r>
              <a:rPr sz="1300" b="0">
                <a:solidFill>
                  <a:srgbClr val="5A6B73"/>
                </a:solidFill>
                <a:latin typeface="Arial"/>
              </a:rPr>
              <a:t>–  </a:t>
            </a:r>
            <a:r>
              <a:rPr sz="1200">
                <a:solidFill>
                  <a:srgbClr val="1E2B32"/>
                </a:solidFill>
                <a:latin typeface="Arial"/>
              </a:rPr>
              <a:t>High re-consumes
more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028090"/>
                </a:solidFill>
                <a:latin typeface="Arial"/>
              </a:rPr>
              <a:t>●  </a:t>
            </a:r>
            <a:r>
              <a:rPr sz="1300">
                <a:solidFill>
                  <a:srgbClr val="1E2B32"/>
                </a:solidFill>
                <a:latin typeface="Arial"/>
              </a:rPr>
              <a:t>Glutamine</a:t>
            </a:r>
          </a:p>
          <a:p>
            <a:pPr lvl="1">
              <a:lnSpc>
                <a:spcPct val="110000"/>
              </a:lnSpc>
              <a:spcAft>
                <a:spcPts val="1000"/>
              </a:spcAft>
            </a:pPr>
            <a:r>
              <a:rPr sz="1300" b="0">
                <a:solidFill>
                  <a:srgbClr val="5A6B73"/>
                </a:solidFill>
                <a:latin typeface="Arial"/>
              </a:rPr>
              <a:t>–  </a:t>
            </a:r>
            <a:r>
              <a:rPr sz="1200">
                <a:solidFill>
                  <a:srgbClr val="1E2B32"/>
                </a:solidFill>
                <a:latin typeface="Arial"/>
              </a:rPr>
              <a:t>High utilizes more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6B73"/>
                </a:solidFill>
                <a:latin typeface="Arial"/>
              </a:rPr>
              <a:t>CHO cell line metabolic analysis | negative = uptake, positive = secretion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73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PART 4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A43"/>
                </a:solidFill>
                <a:latin typeface="Arial"/>
              </a:rPr>
              <a:t>Result 4.  Integrated summary panel</a:t>
            </a:r>
          </a:p>
        </p:txBody>
      </p:sp>
      <p:pic>
        <p:nvPicPr>
          <p:cNvPr id="4" name="Picture 3" descr="Fig8_summary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243" y="1737360"/>
            <a:ext cx="6008392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61120" y="1920240"/>
            <a:ext cx="2743200" cy="4023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300" b="1">
                <a:solidFill>
                  <a:srgbClr val="028090"/>
                </a:solidFill>
                <a:latin typeface="Arial"/>
              </a:rPr>
              <a:t>●  </a:t>
            </a:r>
            <a:r>
              <a:rPr sz="1300">
                <a:solidFill>
                  <a:srgbClr val="1E2B32"/>
                </a:solidFill>
                <a:latin typeface="Arial"/>
              </a:rPr>
              <a:t>A: IgG curves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300" b="1">
                <a:solidFill>
                  <a:srgbClr val="028090"/>
                </a:solidFill>
                <a:latin typeface="Arial"/>
              </a:rPr>
              <a:t>●  </a:t>
            </a:r>
            <a:r>
              <a:rPr sz="1300">
                <a:solidFill>
                  <a:srgbClr val="1E2B32"/>
                </a:solidFill>
                <a:latin typeface="Arial"/>
              </a:rPr>
              <a:t>B: Lac/Glc ratio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300" b="1">
                <a:solidFill>
                  <a:srgbClr val="028090"/>
                </a:solidFill>
                <a:latin typeface="Arial"/>
              </a:rPr>
              <a:t>●  </a:t>
            </a:r>
            <a:r>
              <a:rPr sz="1300">
                <a:solidFill>
                  <a:srgbClr val="1E2B32"/>
                </a:solidFill>
                <a:latin typeface="Arial"/>
              </a:rPr>
              <a:t>C: Glucose uptake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300" b="1">
                <a:solidFill>
                  <a:srgbClr val="028090"/>
                </a:solidFill>
                <a:latin typeface="Arial"/>
              </a:rPr>
              <a:t>●  </a:t>
            </a:r>
            <a:r>
              <a:rPr sz="1300">
                <a:solidFill>
                  <a:srgbClr val="1E2B32"/>
                </a:solidFill>
                <a:latin typeface="Arial"/>
              </a:rPr>
              <a:t>D: Uptake/secretion
High vs Low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300" b="1">
                <a:solidFill>
                  <a:srgbClr val="028090"/>
                </a:solidFill>
                <a:latin typeface="Arial"/>
              </a:rPr>
              <a:t>●  </a:t>
            </a:r>
            <a:r>
              <a:rPr sz="1300">
                <a:solidFill>
                  <a:srgbClr val="1E2B32"/>
                </a:solidFill>
                <a:latin typeface="Arial"/>
              </a:rPr>
              <a:t>E: FVA flux range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300" b="1">
                <a:solidFill>
                  <a:srgbClr val="028090"/>
                </a:solidFill>
                <a:latin typeface="Arial"/>
              </a:rPr>
              <a:t>●  </a:t>
            </a:r>
            <a:r>
              <a:rPr sz="1300">
                <a:solidFill>
                  <a:srgbClr val="1E2B32"/>
                </a:solidFill>
                <a:latin typeface="Arial"/>
              </a:rPr>
              <a:t>F: Extra 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6B73"/>
                </a:solidFill>
                <a:latin typeface="Arial"/>
              </a:rPr>
              <a:t>CHO cell line metabolic analysis | negative = uptake, positive = secretion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73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6FD9C4"/>
                </a:solidFill>
                <a:latin typeface="Arial"/>
              </a:rPr>
              <a:t>PART 5 ·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Arial"/>
              </a:rPr>
              <a:t>Key conclusions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457200" cy="45720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30551"/>
            <a:ext cx="457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574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Arial"/>
              </a:rPr>
              <a:t>High yield = lactate re-consumption = efficient TCA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606039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8C9D0"/>
                </a:solidFill>
                <a:latin typeface="Arial"/>
              </a:rPr>
              <a:t>Strong negative correlation between Lac/Glc ratio and productivity (r=−0.86)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37560"/>
            <a:ext cx="457200" cy="45720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364991"/>
            <a:ext cx="457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2918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Arial"/>
              </a:rPr>
              <a:t>FBA is a tool for understanding, not 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8404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8C9D0"/>
                </a:solidFill>
                <a:latin typeface="Arial"/>
              </a:rPr>
              <a:t>Cannot predict titer ranking; effective for mechanistic insight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572000"/>
            <a:ext cx="457200" cy="45720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599432"/>
            <a:ext cx="457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5262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Arial"/>
              </a:rPr>
              <a:t>Clone differences require additional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0749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8C9D0"/>
                </a:solidFill>
                <a:latin typeface="Arial"/>
              </a:rPr>
              <a:t>Same-model limitation → transcriptome-based clone-specific models needed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6B73"/>
                </a:solidFill>
                <a:latin typeface="Arial"/>
              </a:rPr>
              <a:t>CHO cell line metabolic analysis | negative = uptake, positive = secretion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73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PART 5 ·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A43"/>
                </a:solidFill>
                <a:latin typeface="Arial"/>
              </a:rPr>
              <a:t>Future directions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3611880" cy="3291840"/>
          </a:xfrm>
          <a:prstGeom prst="round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3611880" cy="54864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93392"/>
            <a:ext cx="3611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RNA-seq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743200"/>
            <a:ext cx="3108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 i="0">
                <a:solidFill>
                  <a:srgbClr val="5A6B73"/>
                </a:solidFill>
                <a:latin typeface="Arial"/>
              </a:rPr>
              <a:t>Build context-specific</a:t>
            </a:r>
          </a:p>
          <a:p>
            <a:pPr algn="ctr">
              <a:lnSpc>
                <a:spcPct val="140000"/>
              </a:lnSpc>
            </a:pPr>
            <a:r>
              <a:rPr sz="1500" b="0" i="0">
                <a:solidFill>
                  <a:srgbClr val="5A6B73"/>
                </a:solidFill>
                <a:latin typeface="Arial"/>
              </a:rPr>
              <a:t>models from clone</a:t>
            </a:r>
          </a:p>
          <a:p>
            <a:pPr algn="ctr">
              <a:lnSpc>
                <a:spcPct val="140000"/>
              </a:lnSpc>
            </a:pPr>
            <a:r>
              <a:rPr sz="1500" b="0" i="0">
                <a:solidFill>
                  <a:srgbClr val="5A6B73"/>
                </a:solidFill>
                <a:latin typeface="Arial"/>
              </a:rPr>
              <a:t>expression</a:t>
            </a:r>
          </a:p>
          <a:p>
            <a:pPr algn="ctr">
              <a:lnSpc>
                <a:spcPct val="140000"/>
              </a:lnSpc>
            </a:pPr>
            <a:r>
              <a:rPr sz="1500" b="0" i="0">
                <a:solidFill>
                  <a:srgbClr val="5A6B73"/>
                </a:solidFill>
                <a:latin typeface="Arial"/>
              </a:rPr>
              <a:t>→ predict clone differences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1" y="1920240"/>
            <a:ext cx="3611880" cy="3291840"/>
          </a:xfrm>
          <a:prstGeom prst="round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70831" y="1920240"/>
            <a:ext cx="3611880" cy="54864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0831" y="1993392"/>
            <a:ext cx="3611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ecFBA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1" y="2743200"/>
            <a:ext cx="3108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 i="0">
                <a:solidFill>
                  <a:srgbClr val="5A6B73"/>
                </a:solidFill>
                <a:latin typeface="Arial"/>
              </a:rPr>
              <a:t>Constrain flux by</a:t>
            </a:r>
          </a:p>
          <a:p>
            <a:pPr algn="ctr">
              <a:lnSpc>
                <a:spcPct val="140000"/>
              </a:lnSpc>
            </a:pPr>
            <a:r>
              <a:rPr sz="1500" b="0" i="0">
                <a:solidFill>
                  <a:srgbClr val="5A6B73"/>
                </a:solidFill>
                <a:latin typeface="Arial"/>
              </a:rPr>
              <a:t>enzyme (proteome) levels</a:t>
            </a:r>
          </a:p>
          <a:p>
            <a:pPr algn="ctr">
              <a:lnSpc>
                <a:spcPct val="140000"/>
              </a:lnSpc>
            </a:pPr>
            <a:r>
              <a:rPr sz="1500" b="0" i="0">
                <a:solidFill>
                  <a:srgbClr val="5A6B73"/>
                </a:solidFill>
                <a:latin typeface="Arial"/>
              </a:rPr>
              <a:t>→ more realistic prediction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3023" y="1920240"/>
            <a:ext cx="3611880" cy="3291840"/>
          </a:xfrm>
          <a:prstGeom prst="round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93023" y="1920240"/>
            <a:ext cx="3611880" cy="548640"/>
          </a:xfrm>
          <a:prstGeom prst="round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3" y="1993392"/>
            <a:ext cx="3611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Media optimization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7344" y="2743200"/>
            <a:ext cx="3108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 i="0">
                <a:solidFill>
                  <a:srgbClr val="5A6B73"/>
                </a:solidFill>
                <a:latin typeface="Arial"/>
              </a:rPr>
              <a:t>In silico media</a:t>
            </a:r>
          </a:p>
          <a:p>
            <a:pPr algn="ctr">
              <a:lnSpc>
                <a:spcPct val="140000"/>
              </a:lnSpc>
            </a:pPr>
            <a:r>
              <a:rPr sz="1500" b="0" i="0">
                <a:solidFill>
                  <a:srgbClr val="5A6B73"/>
                </a:solidFill>
                <a:latin typeface="Arial"/>
              </a:rPr>
              <a:t>composition simulation</a:t>
            </a:r>
          </a:p>
          <a:p>
            <a:pPr algn="ctr">
              <a:lnSpc>
                <a:spcPct val="140000"/>
              </a:lnSpc>
            </a:pPr>
            <a:r>
              <a:rPr sz="1500" b="0" i="0">
                <a:solidFill>
                  <a:srgbClr val="5A6B73"/>
                </a:solidFill>
                <a:latin typeface="Arial"/>
              </a:rPr>
              <a:t>→ productivity scenarios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5A6B73"/>
                </a:solidFill>
                <a:latin typeface="Arial"/>
              </a:rPr>
              <a:t>Today's analysis is a starting point. Integrating the metabolic finding (lactate re-consumption) with transcriptome/proteome data can quantify high-producer selection criteria.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6B73"/>
                </a:solidFill>
                <a:latin typeface="Arial"/>
              </a:rPr>
              <a:t>CHO cell line metabolic analysis | negative = uptake, positive = secretion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73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6576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6FD9C4"/>
                </a:solidFill>
                <a:latin typeface="Arial"/>
              </a:rPr>
              <a:t>Questions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8C9D0"/>
                </a:solidFill>
                <a:latin typeface="Arial"/>
              </a:rPr>
              <a:t>CHO cell line metabolic analysis pipeline  ·  iCHO3K + FBA/FVA/pFBA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PART 2 · FBA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A43"/>
                </a:solidFill>
                <a:latin typeface="Arial"/>
              </a:rPr>
              <a:t>A toy example:  steady state means S·v = 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2468880"/>
            <a:ext cx="411480" cy="0"/>
          </a:xfrm>
          <a:prstGeom prst="bentConnector3">
            <a:avLst/>
          </a:prstGeom>
          <a:ln w="31750">
            <a:solidFill>
              <a:srgbClr val="5A6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1480" y="20574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28090"/>
                </a:solidFill>
                <a:latin typeface="Arial"/>
              </a:rPr>
              <a:t>v1</a:t>
            </a:r>
          </a:p>
        </p:txBody>
      </p:sp>
      <p:sp>
        <p:nvSpPr>
          <p:cNvPr id="6" name="Oval 5"/>
          <p:cNvSpPr/>
          <p:nvPr/>
        </p:nvSpPr>
        <p:spPr>
          <a:xfrm>
            <a:off x="987551" y="2176272"/>
            <a:ext cx="585216" cy="585216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1" y="2194560"/>
            <a:ext cx="58521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8" name="Oval 7"/>
          <p:cNvSpPr/>
          <p:nvPr/>
        </p:nvSpPr>
        <p:spPr>
          <a:xfrm>
            <a:off x="2542032" y="2176272"/>
            <a:ext cx="585216" cy="585216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42032" y="2194560"/>
            <a:ext cx="58521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0" name="Oval 9"/>
          <p:cNvSpPr/>
          <p:nvPr/>
        </p:nvSpPr>
        <p:spPr>
          <a:xfrm>
            <a:off x="4645152" y="2176272"/>
            <a:ext cx="585216" cy="58521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2194560"/>
            <a:ext cx="58521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2" name="Oval 11"/>
          <p:cNvSpPr/>
          <p:nvPr/>
        </p:nvSpPr>
        <p:spPr>
          <a:xfrm>
            <a:off x="3547872" y="3547872"/>
            <a:ext cx="585216" cy="585216"/>
          </a:xfrm>
          <a:prstGeom prst="ellipse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3566160"/>
            <a:ext cx="58521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591056" y="2468880"/>
            <a:ext cx="932688" cy="0"/>
          </a:xfrm>
          <a:prstGeom prst="bentConnector3">
            <a:avLst/>
          </a:prstGeom>
          <a:ln w="31750">
            <a:solidFill>
              <a:srgbClr val="5A6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828800" y="20574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28090"/>
                </a:solidFill>
                <a:latin typeface="Arial"/>
              </a:rPr>
              <a:t>v2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08960" y="2331720"/>
            <a:ext cx="1554480" cy="0"/>
          </a:xfrm>
          <a:prstGeom prst="bentConnector3">
            <a:avLst/>
          </a:prstGeom>
          <a:ln w="31750">
            <a:solidFill>
              <a:srgbClr val="5A6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657600" y="192024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28090"/>
                </a:solidFill>
                <a:latin typeface="Arial"/>
              </a:rPr>
              <a:t>v3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63240" y="2724912"/>
            <a:ext cx="502920" cy="868680"/>
          </a:xfrm>
          <a:prstGeom prst="bentConnector3">
            <a:avLst/>
          </a:prstGeom>
          <a:ln w="31750">
            <a:solidFill>
              <a:srgbClr val="5A6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926080" y="315468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E6DA4"/>
                </a:solidFill>
                <a:latin typeface="Arial"/>
              </a:rPr>
              <a:t>v4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4114800" y="2715768"/>
            <a:ext cx="594360" cy="868680"/>
          </a:xfrm>
          <a:prstGeom prst="bentConnector3">
            <a:avLst/>
          </a:prstGeom>
          <a:ln w="31750">
            <a:solidFill>
              <a:srgbClr val="5A6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26280" y="324612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E6DA4"/>
                </a:solidFill>
                <a:latin typeface="Arial"/>
              </a:rPr>
              <a:t>v5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248656" y="2468880"/>
            <a:ext cx="457200" cy="0"/>
          </a:xfrm>
          <a:prstGeom prst="bentConnector3">
            <a:avLst/>
          </a:prstGeom>
          <a:ln w="3175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394960" y="20574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C0392B"/>
                </a:solidFill>
                <a:latin typeface="Arial"/>
              </a:rPr>
              <a:t>v6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237744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0392B"/>
                </a:solidFill>
                <a:latin typeface="Arial"/>
              </a:rPr>
              <a:t>product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26280"/>
            <a:ext cx="5669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5A6B73"/>
                </a:solidFill>
                <a:latin typeface="Arial"/>
              </a:rPr>
              <a:t>v1: uptake of A      v2: A→B      v3: B→C (direct)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5A6B73"/>
                </a:solidFill>
                <a:latin typeface="Arial"/>
              </a:rPr>
              <a:t>v4: B→D      v5: D→C (detour)      v6: C→ product (objective)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17830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B32"/>
                </a:solidFill>
                <a:latin typeface="Arial"/>
              </a:rPr>
              <a:t>Steady state: for every metabolite, in = out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66560" y="2286000"/>
            <a:ext cx="4846320" cy="1600200"/>
          </a:xfrm>
          <a:prstGeom prst="round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0" y="239572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A43"/>
                </a:solidFill>
                <a:latin typeface="Arial"/>
              </a:rPr>
              <a:t>A 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239572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E2B32"/>
                </a:solidFill>
                <a:latin typeface="Consolas"/>
              </a:rPr>
              <a:t>v1 − v2 = 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27614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A43"/>
                </a:solidFill>
                <a:latin typeface="Arial"/>
              </a:rPr>
              <a:t>B 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276148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E2B32"/>
                </a:solidFill>
                <a:latin typeface="Consolas"/>
              </a:rPr>
              <a:t>v2 − v3 − v4 = 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312724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A43"/>
                </a:solidFill>
                <a:latin typeface="Arial"/>
              </a:rPr>
              <a:t>C 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312724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E2B32"/>
                </a:solidFill>
                <a:latin typeface="Consolas"/>
              </a:rPr>
              <a:t>v3 + v5 − v6 = 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34930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A43"/>
                </a:solidFill>
                <a:latin typeface="Arial"/>
              </a:rPr>
              <a:t>D 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349300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E2B32"/>
                </a:solidFill>
                <a:latin typeface="Consolas"/>
              </a:rPr>
              <a:t>v4 − v5 = 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40690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B73"/>
                </a:solidFill>
                <a:latin typeface="Arial"/>
              </a:rPr>
              <a:t>In matrix form: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66560" y="4434840"/>
            <a:ext cx="4846320" cy="914400"/>
          </a:xfrm>
          <a:prstGeom prst="round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0" y="4572000"/>
            <a:ext cx="4846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onsolas"/>
              </a:rPr>
              <a:t>S · v = 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5440680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A6B73"/>
                </a:solidFill>
                <a:latin typeface="Arial"/>
              </a:rPr>
              <a:t>S = stoichiometry matrix (metabolites × reactions)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A6B73"/>
                </a:solidFill>
                <a:latin typeface="Arial"/>
              </a:rPr>
              <a:t>v = flux vector (what we solve for)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98932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28090"/>
                </a:solidFill>
                <a:latin typeface="Arial"/>
              </a:rPr>
              <a:t>FBA adds an objective (maximize v6) and solves S·v = 0 for the best flux v.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6B73"/>
                </a:solidFill>
                <a:latin typeface="Arial"/>
              </a:rPr>
              <a:t>CHO cell line metabolic analysis | negative = uptake, positive = secretion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73"/>
                </a:solidFill>
                <a:latin typeface="Arial"/>
              </a:rPr>
              <a:t>7b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PART 2 · FBA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A43"/>
                </a:solidFill>
                <a:latin typeface="Arial"/>
              </a:rPr>
              <a:t>FBA finds one answer, FVA finds the range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394960" cy="1965960"/>
          </a:xfrm>
          <a:prstGeom prst="roundRect">
            <a:avLst/>
          </a:prstGeom>
          <a:solidFill>
            <a:srgbClr val="EC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28090"/>
                </a:solidFill>
                <a:latin typeface="Arial"/>
              </a:rPr>
              <a:t>FBA  —  one optimal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B73"/>
                </a:solidFill>
                <a:latin typeface="Arial"/>
              </a:rPr>
              <a:t>Maximize v6 subject to S·v = 0,  v1 ≤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 i="0">
                <a:solidFill>
                  <a:srgbClr val="1E2B32"/>
                </a:solidFill>
                <a:latin typeface="Consolas"/>
              </a:rPr>
              <a:t>v1=10   v2=10   v3=10</a:t>
            </a:r>
          </a:p>
          <a:p>
            <a:pPr algn="l">
              <a:lnSpc>
                <a:spcPct val="140000"/>
              </a:lnSpc>
            </a:pPr>
            <a:r>
              <a:rPr sz="1600" b="1" i="0">
                <a:solidFill>
                  <a:srgbClr val="1E2B32"/>
                </a:solidFill>
                <a:latin typeface="Consolas"/>
              </a:rPr>
              <a:t>v4=0    v5=0    v6=10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0392B"/>
                </a:solidFill>
                <a:latin typeface="Arial"/>
              </a:rPr>
              <a:t>→ max product v6 =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394960" cy="1965960"/>
          </a:xfrm>
          <a:prstGeom prst="roundRect">
            <a:avLst/>
          </a:prstGeom>
          <a:solidFill>
            <a:srgbClr val="FDF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88A00"/>
                </a:solidFill>
                <a:latin typeface="Arial"/>
              </a:rPr>
              <a:t>But is that the only answer?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937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2B32"/>
                </a:solidFill>
                <a:latin typeface="Arial"/>
              </a:rPr>
              <a:t>No. The cell could also route through the detour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2B32"/>
                </a:solidFill>
                <a:latin typeface="Arial"/>
              </a:rPr>
              <a:t>(v4→v5) and still make v6 = 10.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2B32"/>
                </a:solidFill>
                <a:latin typeface="Arial"/>
              </a:rPr>
              <a:t>Many flux vectors give the same objective —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2B32"/>
                </a:solidFill>
                <a:latin typeface="Arial"/>
              </a:rPr>
              <a:t>FBA just reports one of them.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77639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0A896"/>
                </a:solidFill>
                <a:latin typeface="Arial"/>
              </a:rPr>
              <a:t>FVA  —  feasible range of each flux at ≥ 90% of max 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43984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02A43"/>
                </a:solidFill>
                <a:latin typeface="Consolas"/>
              </a:rPr>
              <a:t>v1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4489704"/>
            <a:ext cx="5120640" cy="109728"/>
          </a:xfrm>
          <a:prstGeom prst="rect">
            <a:avLst/>
          </a:prstGeom>
          <a:solidFill>
            <a:srgbClr val="E3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88736" y="4434840"/>
            <a:ext cx="512063" cy="2286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4425696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6B73"/>
                </a:solidFill>
                <a:latin typeface="Arial"/>
              </a:rPr>
              <a:t>[9, 10]   uptake fixed (tight)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594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02A43"/>
                </a:solidFill>
                <a:latin typeface="Consolas"/>
              </a:rPr>
              <a:t>v2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0160" y="4805172"/>
            <a:ext cx="5120640" cy="109728"/>
          </a:xfrm>
          <a:prstGeom prst="rect">
            <a:avLst/>
          </a:prstGeom>
          <a:solidFill>
            <a:srgbClr val="E3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888736" y="4750307"/>
            <a:ext cx="512063" cy="2286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4741164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6B73"/>
                </a:solidFill>
                <a:latin typeface="Arial"/>
              </a:rPr>
              <a:t>[9, 10]   fixed (tight)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7492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02A43"/>
                </a:solidFill>
                <a:latin typeface="Consolas"/>
              </a:rPr>
              <a:t>v3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80160" y="5120640"/>
            <a:ext cx="5120640" cy="109728"/>
          </a:xfrm>
          <a:prstGeom prst="rect">
            <a:avLst/>
          </a:prstGeom>
          <a:solidFill>
            <a:srgbClr val="E3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80160" y="5065775"/>
            <a:ext cx="5120640" cy="228600"/>
          </a:xfrm>
          <a:prstGeom prst="round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5056631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6B73"/>
                </a:solidFill>
                <a:latin typeface="Arial"/>
              </a:rPr>
              <a:t>[0, 10]   direct path — free (0–10)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390388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02A43"/>
                </a:solidFill>
                <a:latin typeface="Consolas"/>
              </a:rPr>
              <a:t>v4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0160" y="5436107"/>
            <a:ext cx="5120640" cy="109728"/>
          </a:xfrm>
          <a:prstGeom prst="rect">
            <a:avLst/>
          </a:prstGeom>
          <a:solidFill>
            <a:srgbClr val="E3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280160" y="5381243"/>
            <a:ext cx="5120640" cy="228600"/>
          </a:xfrm>
          <a:prstGeom prst="round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5372099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6B73"/>
                </a:solidFill>
                <a:latin typeface="Arial"/>
              </a:rPr>
              <a:t>[0, 10]   detour — free (0–10)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705855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02A43"/>
                </a:solidFill>
                <a:latin typeface="Consolas"/>
              </a:rPr>
              <a:t>v6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80160" y="5751575"/>
            <a:ext cx="5120640" cy="109728"/>
          </a:xfrm>
          <a:prstGeom prst="rect">
            <a:avLst/>
          </a:prstGeom>
          <a:solidFill>
            <a:srgbClr val="E3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888736" y="5696711"/>
            <a:ext cx="512063" cy="2286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5687567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6B73"/>
                </a:solidFill>
                <a:latin typeface="Arial"/>
              </a:rPr>
              <a:t>[9, 10]   product fixed (tight)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39" y="6039611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B73"/>
                </a:solidFill>
                <a:latin typeface="Arial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6039611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B73"/>
                </a:solidFill>
                <a:latin typeface="Arial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19963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2B32"/>
                </a:solidFill>
                <a:latin typeface="Arial"/>
              </a:rPr>
              <a:t>Narrow bar (teal) = flux is essential / tightly determined.   Wide bar (gold) = alternative routes exist.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6B73"/>
                </a:solidFill>
                <a:latin typeface="Arial"/>
              </a:rPr>
              <a:t>CHO cell line metabolic analysis | negative = uptake, positive = secretion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73"/>
                </a:solidFill>
                <a:latin typeface="Arial"/>
              </a:rPr>
              <a:t>7c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